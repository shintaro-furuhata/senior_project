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52"/>
    <a:srgbClr val="50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67D67-E96D-4256-9063-8F8009B50CC0}" type="datetimeFigureOut">
              <a:rPr kumimoji="1" lang="ja-JP" altLang="en-US" smtClean="0"/>
              <a:t>2026/2/16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347C9-447B-415D-9C75-D39A82C8D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085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347C9-447B-415D-9C75-D39A82C8DF8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58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5E63143-CE3D-43FE-84E9-F1FD619E7C10}"/>
              </a:ext>
            </a:extLst>
          </p:cNvPr>
          <p:cNvSpPr/>
          <p:nvPr userDrawn="1"/>
        </p:nvSpPr>
        <p:spPr>
          <a:xfrm>
            <a:off x="0" y="0"/>
            <a:ext cx="12192000" cy="49002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7A786DF-5E71-F0E9-FC22-7CCFCAE09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1691" y="367323"/>
            <a:ext cx="11527693" cy="3061677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2B37CD-CF50-971C-8DD1-36C8AD3A79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1691" y="5074080"/>
            <a:ext cx="5054498" cy="16557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名前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0293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本の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6C055DB-E002-A6B9-11D4-593A88BFEDB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11411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4400" b="1" kern="1200" dirty="0">
              <a:solidFill>
                <a:schemeClr val="bg1"/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FAFFFB-127C-B12F-F0A4-BE73A1F2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6246" y="6283568"/>
            <a:ext cx="844061" cy="500186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latin typeface="+mj-lt"/>
              </a:defRPr>
            </a:lvl1pPr>
          </a:lstStyle>
          <a:p>
            <a:fld id="{DEB69D7D-7114-455C-9F4C-F8F7999F0A91}" type="slidenum">
              <a:rPr lang="ja-JP" altLang="en-US" smtClean="0"/>
              <a:pPr/>
              <a:t>‹#›</a:t>
            </a:fld>
            <a:endParaRPr lang="ja-JP" altLang="en-US" b="1" dirty="0"/>
          </a:p>
        </p:txBody>
      </p:sp>
      <p:sp>
        <p:nvSpPr>
          <p:cNvPr id="13" name="フッター プレースホルダー 12">
            <a:extLst>
              <a:ext uri="{FF2B5EF4-FFF2-40B4-BE49-F238E27FC236}">
                <a16:creationId xmlns:a16="http://schemas.microsoft.com/office/drawing/2014/main" id="{22DB3DD5-618E-E24B-C355-161121E3B2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26646" y="6356350"/>
            <a:ext cx="10621108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2B88E87-9206-FC83-EF0A-C4D1C6A9D559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246" y="6283568"/>
            <a:ext cx="1151206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CD4A19BF-DDFB-3471-5169-5A0E8F74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46" y="270169"/>
            <a:ext cx="10515600" cy="604939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0610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7F75BF-68FF-71C3-5195-49E07D8B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19E615-57DD-1BAA-199C-DA165C00A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D16B2E-8EE1-AB38-C540-85664E25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74B437-5623-4D21-7271-983442AF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F6F9A5-FFF1-35AF-4A0D-3F54F277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56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16F88-4794-FE4B-4C3D-DE66FD1A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7C4D97-3873-F356-9BAF-1EBBBD8D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70E94C-B690-3E16-0C0B-4D5F4E35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6038E1-1564-5EE9-EA02-E29EFC74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D46876-4AE5-3088-1911-9A63E05E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05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94DA22-301A-E703-2EA3-80A164417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BCC5FB-C052-9AC0-0D7E-570717F3D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F1665B-1AC9-A7AC-3F7E-010624CE4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98B67E-A8DB-F923-C38F-DDA8D401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19FD38-CE85-1CCF-5D2E-7A0B5C72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38EC69-CDC1-DD73-DBD4-012747B1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78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3C8AB-10BD-217F-6F23-C3D7305A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BD2519-CF38-C807-9289-AA29FBBE3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FB935E-9773-B51B-B307-56EF853A1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3A6157C-DE26-FA3D-1308-D10E06535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B0E040-79ED-3706-8D2C-7168E5C09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31DCAC9-5A49-FB1C-59E4-917A6838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9223AE9-50AE-341C-DB41-E689AF61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B3C9CA-9A30-D504-F2E5-AD6399C0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303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9E15E-5DB0-A011-8B45-13EFCF61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12AAB4-64BB-6243-E43F-B549D5BD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7B8011C-95ED-00C2-A65C-B48461C0D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1A9190-056F-AD8B-510A-CC19690C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1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710734B-250E-8811-B277-2BF2CE39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C26A36-17DE-D93B-2178-DC3DA483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BDD064-E216-DCB5-70D9-8218909E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0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42FE4E-40B1-F6B2-469C-F0AF0F8F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BA4C70-218A-E885-1899-1B4DA7BEB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8B0275-2589-CBD8-DB15-47D5C8398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7DE084-A7A9-D7B0-79E1-07E632DC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7DBCD0-490C-55A4-8C54-6B7A2602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2ACD77-22EB-33C4-5DC0-B02A5C95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12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9EDC6-DD8E-D41B-9E64-DFC9F6E81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66314D-F34D-D736-00E1-3A81BD20A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1D6386-5066-51F9-602B-30D632002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D30973-7888-1D6E-A2B6-EF11AD76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8B5EFB-AFDC-986D-288C-FFA7AF55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0F717E-6D87-BDE0-29A1-03EB0D53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52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B1CC0A-57FC-C2C8-CCE8-CA396E1C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624752-0F10-6D5E-A070-D1E6D65F9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C8E6E2-B684-D214-A4B9-625E662CBA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8F0E1B-D0CF-5FDB-8498-EC381EE5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297D0-D1B9-92E4-3E63-8BBC3831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72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A107B33-CBC7-CE80-CC95-C42C2714C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1FAC2D6-00F1-2927-99DB-750A1503F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8789B8-378F-30A6-9C8F-F13321B3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49A9FD-8007-587A-03C9-8E7697EC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246" y="6356350"/>
            <a:ext cx="9956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EBF297-5CA1-A727-99A1-373F461B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B69D7D-7114-455C-9F4C-F8F7999F0A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083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19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17C939D4-4376-615A-E57B-DACD5C846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153" y="253081"/>
            <a:ext cx="11527693" cy="4366627"/>
          </a:xfrm>
        </p:spPr>
        <p:txBody>
          <a:bodyPr/>
          <a:lstStyle/>
          <a:p>
            <a:r>
              <a:rPr lang="en-US" altLang="ja-JP" dirty="0"/>
              <a:t>Beaver Triples</a:t>
            </a:r>
            <a:endParaRPr lang="ja-JP" altLang="en-US" dirty="0"/>
          </a:p>
        </p:txBody>
      </p:sp>
      <p:sp>
        <p:nvSpPr>
          <p:cNvPr id="6" name="字幕 5">
            <a:extLst>
              <a:ext uri="{FF2B5EF4-FFF2-40B4-BE49-F238E27FC236}">
                <a16:creationId xmlns:a16="http://schemas.microsoft.com/office/drawing/2014/main" id="{BC3A48B3-3C89-457B-F038-526B2C7DF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法政大学 理工学部 応用情報工学科</a:t>
            </a:r>
            <a:endParaRPr lang="en-US" altLang="ja-JP" dirty="0"/>
          </a:p>
          <a:p>
            <a:r>
              <a:rPr lang="ja-JP" altLang="en-US" dirty="0"/>
              <a:t>最適化システム研究室</a:t>
            </a:r>
            <a:endParaRPr lang="en-US" altLang="ja-JP" dirty="0"/>
          </a:p>
          <a:p>
            <a:r>
              <a:rPr lang="ja-JP" altLang="en-US" dirty="0"/>
              <a:t>古旗真太郎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50980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CD17240-975C-3237-91E7-F47B46BAE2D8}"/>
              </a:ext>
            </a:extLst>
          </p:cNvPr>
          <p:cNvSpPr/>
          <p:nvPr/>
        </p:nvSpPr>
        <p:spPr>
          <a:xfrm>
            <a:off x="611800" y="3337270"/>
            <a:ext cx="11267465" cy="19765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E5532D6-2516-A9D4-A3B4-D1C3A026F10B}"/>
              </a:ext>
            </a:extLst>
          </p:cNvPr>
          <p:cNvSpPr/>
          <p:nvPr/>
        </p:nvSpPr>
        <p:spPr>
          <a:xfrm>
            <a:off x="7179727" y="3388070"/>
            <a:ext cx="2260601" cy="1552774"/>
          </a:xfrm>
          <a:prstGeom prst="rect">
            <a:avLst/>
          </a:prstGeom>
          <a:solidFill>
            <a:srgbClr val="FFF3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64355D8-8DEA-B348-4843-34F05F58FB6A}"/>
              </a:ext>
            </a:extLst>
          </p:cNvPr>
          <p:cNvSpPr/>
          <p:nvPr/>
        </p:nvSpPr>
        <p:spPr>
          <a:xfrm>
            <a:off x="611800" y="2254876"/>
            <a:ext cx="9048666" cy="58110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E906FB-C5AF-1622-DFA7-F542EC3B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9D7D-7114-455C-9F4C-F8F7999F0A91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73CCAA-A63A-C28D-2718-61A021996FF8}"/>
              </a:ext>
            </a:extLst>
          </p:cNvPr>
          <p:cNvSpPr txBox="1"/>
          <p:nvPr/>
        </p:nvSpPr>
        <p:spPr>
          <a:xfrm>
            <a:off x="326003" y="206734"/>
            <a:ext cx="7863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1" dirty="0">
                <a:solidFill>
                  <a:schemeClr val="bg1"/>
                </a:solidFill>
              </a:rPr>
              <a:t>MPC</a:t>
            </a:r>
            <a:r>
              <a:rPr lang="ja-JP" altLang="en-US" sz="4000" b="1" dirty="0">
                <a:solidFill>
                  <a:schemeClr val="bg1"/>
                </a:solidFill>
              </a:rPr>
              <a:t>の計算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AC8DDFD-93A6-2EC4-96F5-681F79EE1760}"/>
                  </a:ext>
                </a:extLst>
              </p:cNvPr>
              <p:cNvSpPr txBox="1"/>
              <p:nvPr/>
            </p:nvSpPr>
            <p:spPr>
              <a:xfrm>
                <a:off x="1782272" y="3371737"/>
                <a:ext cx="884960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+    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  +</m:t>
                      </m:r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ja-JP" sz="2800" b="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AC8DDFD-93A6-2EC4-96F5-681F79EE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2" y="3371737"/>
                <a:ext cx="8849602" cy="430887"/>
              </a:xfrm>
              <a:prstGeom prst="rect">
                <a:avLst/>
              </a:prstGeom>
              <a:blipFill>
                <a:blip r:embed="rId2"/>
                <a:stretch>
                  <a:fillRect t="-25352" r="-2548" b="-492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E019B6A-5770-7B0F-394D-91A876261D0A}"/>
              </a:ext>
            </a:extLst>
          </p:cNvPr>
          <p:cNvSpPr txBox="1"/>
          <p:nvPr/>
        </p:nvSpPr>
        <p:spPr>
          <a:xfrm>
            <a:off x="781134" y="2326010"/>
            <a:ext cx="1001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加算</a:t>
            </a:r>
            <a:endParaRPr kumimoji="1" lang="en-US" altLang="ja-JP" sz="24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F16C3D9-180D-5BD1-9615-E77AA191E5D9}"/>
              </a:ext>
            </a:extLst>
          </p:cNvPr>
          <p:cNvSpPr txBox="1"/>
          <p:nvPr/>
        </p:nvSpPr>
        <p:spPr>
          <a:xfrm>
            <a:off x="714756" y="1930908"/>
            <a:ext cx="6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en-US" altLang="ja-JP" sz="28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D887956-E3F9-990C-5781-FDBDE1457D76}"/>
                  </a:ext>
                </a:extLst>
              </p:cNvPr>
              <p:cNvSpPr txBox="1"/>
              <p:nvPr/>
            </p:nvSpPr>
            <p:spPr>
              <a:xfrm>
                <a:off x="1782272" y="2341908"/>
                <a:ext cx="72233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8D887956-E3F9-990C-5781-FDBDE1457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2" y="2341908"/>
                <a:ext cx="7223388" cy="369332"/>
              </a:xfrm>
              <a:prstGeom prst="rect">
                <a:avLst/>
              </a:prstGeom>
              <a:blipFill>
                <a:blip r:embed="rId3"/>
                <a:stretch>
                  <a:fillRect t="-24590" r="-2785" b="-491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856D3F8-6781-6610-215C-FBC7CCE6C8FA}"/>
              </a:ext>
            </a:extLst>
          </p:cNvPr>
          <p:cNvSpPr/>
          <p:nvPr/>
        </p:nvSpPr>
        <p:spPr>
          <a:xfrm>
            <a:off x="611800" y="1330286"/>
            <a:ext cx="9048666" cy="58110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4AC1D6E-6744-4AEF-8B28-25ED73757262}"/>
              </a:ext>
            </a:extLst>
          </p:cNvPr>
          <p:cNvSpPr txBox="1"/>
          <p:nvPr/>
        </p:nvSpPr>
        <p:spPr>
          <a:xfrm>
            <a:off x="781134" y="1390007"/>
            <a:ext cx="1001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前提</a:t>
            </a:r>
            <a:endParaRPr kumimoji="1" lang="en-US" altLang="ja-JP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2D108CC-C12F-812C-4CBE-97DB90031765}"/>
                  </a:ext>
                </a:extLst>
              </p:cNvPr>
              <p:cNvSpPr txBox="1"/>
              <p:nvPr/>
            </p:nvSpPr>
            <p:spPr>
              <a:xfrm>
                <a:off x="1782272" y="1407656"/>
                <a:ext cx="34379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2D108CC-C12F-812C-4CBE-97DB90031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272" y="1407656"/>
                <a:ext cx="3437929" cy="369332"/>
              </a:xfrm>
              <a:prstGeom prst="rect">
                <a:avLst/>
              </a:prstGeom>
              <a:blipFill>
                <a:blip r:embed="rId4"/>
                <a:stretch>
                  <a:fillRect t="-26230" r="-5319" b="-475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456BCB7-2F4E-928F-F66B-A34575C65A7B}"/>
                  </a:ext>
                </a:extLst>
              </p:cNvPr>
              <p:cNvSpPr txBox="1"/>
              <p:nvPr/>
            </p:nvSpPr>
            <p:spPr>
              <a:xfrm>
                <a:off x="5333533" y="1390007"/>
                <a:ext cx="32765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)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456BCB7-2F4E-928F-F66B-A34575C65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33" y="1390007"/>
                <a:ext cx="3276535" cy="461665"/>
              </a:xfrm>
              <a:prstGeom prst="rect">
                <a:avLst/>
              </a:prstGeom>
              <a:blipFill>
                <a:blip r:embed="rId5"/>
                <a:stretch>
                  <a:fillRect l="-1676" t="-10526" r="-3724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07BA4E7-7FA7-2C8B-CEE6-8651858CEA74}"/>
              </a:ext>
            </a:extLst>
          </p:cNvPr>
          <p:cNvSpPr txBox="1"/>
          <p:nvPr/>
        </p:nvSpPr>
        <p:spPr>
          <a:xfrm>
            <a:off x="714756" y="3340959"/>
            <a:ext cx="1001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乗算</a:t>
            </a:r>
            <a:endParaRPr kumimoji="1" lang="en-US" altLang="ja-JP" sz="24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8508EF1-2CBA-A1D8-8349-39FD6590308F}"/>
              </a:ext>
            </a:extLst>
          </p:cNvPr>
          <p:cNvSpPr txBox="1"/>
          <p:nvPr/>
        </p:nvSpPr>
        <p:spPr>
          <a:xfrm>
            <a:off x="7251693" y="3932680"/>
            <a:ext cx="2116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単一サーバで    計算できない</a:t>
            </a:r>
            <a:endParaRPr kumimoji="1" lang="ja-JP" altLang="en-US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65DD6F-1667-A9F5-F891-C583ABFB7E3D}"/>
              </a:ext>
            </a:extLst>
          </p:cNvPr>
          <p:cNvSpPr txBox="1"/>
          <p:nvPr/>
        </p:nvSpPr>
        <p:spPr>
          <a:xfrm>
            <a:off x="1643632" y="4387455"/>
            <a:ext cx="4504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準同型暗号等を利用する</a:t>
            </a:r>
            <a:endParaRPr kumimoji="1" lang="en-US" altLang="ja-JP" sz="2400" dirty="0"/>
          </a:p>
          <a:p>
            <a:r>
              <a:rPr lang="ja-JP" altLang="en-US" sz="2400" dirty="0"/>
              <a:t>→通信効率が悪い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5421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3960A53-F816-5824-B568-08EC3EBB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9D7D-7114-455C-9F4C-F8F7999F0A91}" type="slidenum">
              <a:rPr lang="ja-JP" altLang="en-US" smtClean="0"/>
              <a:pPr/>
              <a:t>2</a:t>
            </a:fld>
            <a:endParaRPr lang="ja-JP" altLang="en-US" b="1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CF6A5C4-D2CF-4FCF-6AC2-96490BD9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Beaver Triples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9F2A6B-E32A-A7A3-D2CE-6BD15331CA24}"/>
              </a:ext>
            </a:extLst>
          </p:cNvPr>
          <p:cNvSpPr txBox="1"/>
          <p:nvPr/>
        </p:nvSpPr>
        <p:spPr>
          <a:xfrm>
            <a:off x="491488" y="1625967"/>
            <a:ext cx="96492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・通信を少なくしつつ，乗算を行うプロトコル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・詳しくは次の図を参照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・</a:t>
            </a:r>
            <a:r>
              <a:rPr lang="en-US" altLang="ja-JP" sz="3200" dirty="0"/>
              <a:t>2PC</a:t>
            </a:r>
            <a:r>
              <a:rPr lang="ja-JP" altLang="en-US" sz="3200" dirty="0"/>
              <a:t>に分散した場合</a:t>
            </a:r>
            <a:endParaRPr lang="en-US" altLang="ja-JP" sz="3200" dirty="0"/>
          </a:p>
          <a:p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85163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9910F81-5303-A31F-A5FD-A8D67176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69D7D-7114-455C-9F4C-F8F7999F0A91}" type="slidenum">
              <a:rPr lang="ja-JP" altLang="en-US" smtClean="0"/>
              <a:pPr/>
              <a:t>3</a:t>
            </a:fld>
            <a:endParaRPr lang="ja-JP" altLang="en-US" b="1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6A40452-F2C6-B8B9-7AF8-560C6700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Beaver Triples</a:t>
            </a:r>
            <a:endParaRPr kumimoji="1"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D9B685B-426E-5D3D-9AFF-6F4131D8FB8D}"/>
              </a:ext>
            </a:extLst>
          </p:cNvPr>
          <p:cNvSpPr/>
          <p:nvPr/>
        </p:nvSpPr>
        <p:spPr>
          <a:xfrm>
            <a:off x="575224" y="1417691"/>
            <a:ext cx="9048666" cy="58110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E00989-EEAF-5FF5-8796-EA9DDB785A78}"/>
              </a:ext>
            </a:extLst>
          </p:cNvPr>
          <p:cNvSpPr txBox="1"/>
          <p:nvPr/>
        </p:nvSpPr>
        <p:spPr>
          <a:xfrm>
            <a:off x="744558" y="1488825"/>
            <a:ext cx="1001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準備</a:t>
            </a:r>
            <a:endParaRPr kumimoji="1" lang="en-US" altLang="ja-JP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18C699F-B775-B33F-2357-77489E4D1CB6}"/>
                  </a:ext>
                </a:extLst>
              </p:cNvPr>
              <p:cNvSpPr txBox="1"/>
              <p:nvPr/>
            </p:nvSpPr>
            <p:spPr>
              <a:xfrm>
                <a:off x="1745696" y="1504723"/>
                <a:ext cx="9809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18C699F-B775-B33F-2357-77489E4D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96" y="1504723"/>
                <a:ext cx="980910" cy="369332"/>
              </a:xfrm>
              <a:prstGeom prst="rect">
                <a:avLst/>
              </a:prstGeom>
              <a:blipFill>
                <a:blip r:embed="rId2"/>
                <a:stretch>
                  <a:fillRect l="-6211" t="-26667" r="-23602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79FC89F-658C-AA04-9714-A8AB9A5DF4B3}"/>
                  </a:ext>
                </a:extLst>
              </p:cNvPr>
              <p:cNvSpPr txBox="1"/>
              <p:nvPr/>
            </p:nvSpPr>
            <p:spPr>
              <a:xfrm>
                <a:off x="2746834" y="1488824"/>
                <a:ext cx="43051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400" dirty="0"/>
                  <a:t>となる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を用意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79FC89F-658C-AA04-9714-A8AB9A5DF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834" y="1488824"/>
                <a:ext cx="4305130" cy="461665"/>
              </a:xfrm>
              <a:prstGeom prst="rect">
                <a:avLst/>
              </a:prstGeom>
              <a:blipFill>
                <a:blip r:embed="rId3"/>
                <a:stretch>
                  <a:fillRect l="-2266" t="-11842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503033E-1A2E-0781-667F-5D7FF9167298}"/>
              </a:ext>
            </a:extLst>
          </p:cNvPr>
          <p:cNvSpPr/>
          <p:nvPr/>
        </p:nvSpPr>
        <p:spPr>
          <a:xfrm>
            <a:off x="575224" y="2250828"/>
            <a:ext cx="9048666" cy="58110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A20F70-731C-4DAA-A17D-3B98B10F9E9A}"/>
              </a:ext>
            </a:extLst>
          </p:cNvPr>
          <p:cNvSpPr txBox="1"/>
          <p:nvPr/>
        </p:nvSpPr>
        <p:spPr>
          <a:xfrm>
            <a:off x="744558" y="2321962"/>
            <a:ext cx="800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通信</a:t>
            </a:r>
            <a:endParaRPr kumimoji="1" lang="en-US" altLang="ja-JP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9F7E5A5-CB38-CF2C-0AA2-15D13E5D0A1A}"/>
                  </a:ext>
                </a:extLst>
              </p:cNvPr>
              <p:cNvSpPr txBox="1"/>
              <p:nvPr/>
            </p:nvSpPr>
            <p:spPr>
              <a:xfrm>
                <a:off x="1745696" y="2337860"/>
                <a:ext cx="27799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9F7E5A5-CB38-CF2C-0AA2-15D13E5D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96" y="2337860"/>
                <a:ext cx="2779992" cy="369332"/>
              </a:xfrm>
              <a:prstGeom prst="rect">
                <a:avLst/>
              </a:prstGeom>
              <a:blipFill>
                <a:blip r:embed="rId4"/>
                <a:stretch>
                  <a:fillRect l="-1974" t="-26667" r="-7895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523F96-B5B6-D48F-4668-257AB553A53B}"/>
              </a:ext>
            </a:extLst>
          </p:cNvPr>
          <p:cNvSpPr txBox="1"/>
          <p:nvPr/>
        </p:nvSpPr>
        <p:spPr>
          <a:xfrm>
            <a:off x="4726048" y="2337860"/>
            <a:ext cx="430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のように差分をとり公開</a:t>
            </a:r>
            <a:endParaRPr kumimoji="1" lang="en-US" altLang="ja-JP" sz="24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D465EDA-47E6-5328-7FB5-1D3E6A5601FB}"/>
              </a:ext>
            </a:extLst>
          </p:cNvPr>
          <p:cNvSpPr/>
          <p:nvPr/>
        </p:nvSpPr>
        <p:spPr>
          <a:xfrm>
            <a:off x="575224" y="3138445"/>
            <a:ext cx="9048666" cy="58110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9581647-CD89-2E2F-D325-E66E978B2110}"/>
              </a:ext>
            </a:extLst>
          </p:cNvPr>
          <p:cNvSpPr txBox="1"/>
          <p:nvPr/>
        </p:nvSpPr>
        <p:spPr>
          <a:xfrm>
            <a:off x="744558" y="3209579"/>
            <a:ext cx="1001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乗算</a:t>
            </a:r>
            <a:endParaRPr kumimoji="1" lang="en-US" altLang="ja-JP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7F7CDED-5E3B-F092-389E-22CCD0D7C461}"/>
                  </a:ext>
                </a:extLst>
              </p:cNvPr>
              <p:cNvSpPr txBox="1"/>
              <p:nvPr/>
            </p:nvSpPr>
            <p:spPr>
              <a:xfrm>
                <a:off x="1745696" y="3225477"/>
                <a:ext cx="65281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+[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+[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7F7CDED-5E3B-F092-389E-22CCD0D7C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96" y="3225477"/>
                <a:ext cx="6528197" cy="369332"/>
              </a:xfrm>
              <a:prstGeom prst="rect">
                <a:avLst/>
              </a:prstGeom>
              <a:blipFill>
                <a:blip r:embed="rId5"/>
                <a:stretch>
                  <a:fillRect l="-467" t="-24590" r="-3081" b="-491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63CCC00-CE69-1173-E87D-436AC888C132}"/>
                  </a:ext>
                </a:extLst>
              </p:cNvPr>
              <p:cNvSpPr txBox="1"/>
              <p:nvPr/>
            </p:nvSpPr>
            <p:spPr>
              <a:xfrm>
                <a:off x="1555110" y="3943766"/>
                <a:ext cx="238344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63CCC00-CE69-1173-E87D-436AC888C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110" y="3943766"/>
                <a:ext cx="2383448" cy="369332"/>
              </a:xfrm>
              <a:prstGeom prst="rect">
                <a:avLst/>
              </a:prstGeom>
              <a:blipFill>
                <a:blip r:embed="rId6"/>
                <a:stretch>
                  <a:fillRect t="-26230" r="-3325" b="-475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94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2D159E2-9EC8-8AC7-C435-7083CF44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776" y="6376296"/>
            <a:ext cx="399288" cy="501650"/>
          </a:xfrm>
        </p:spPr>
        <p:txBody>
          <a:bodyPr/>
          <a:lstStyle/>
          <a:p>
            <a:fld id="{DEB69D7D-7114-455C-9F4C-F8F7999F0A91}" type="slidenum">
              <a:rPr lang="ja-JP" altLang="en-US" sz="2400" b="1" smtClean="0"/>
              <a:pPr/>
              <a:t>4</a:t>
            </a:fld>
            <a:endParaRPr lang="ja-JP" altLang="en-US" sz="2400" b="1" dirty="0"/>
          </a:p>
        </p:txBody>
      </p:sp>
      <p:pic>
        <p:nvPicPr>
          <p:cNvPr id="4" name="図 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E6035146-3EBD-64C1-7A41-3375E6655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14" y="82296"/>
            <a:ext cx="11680371" cy="637629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73038AD-8714-DE41-D0C3-E483F6F3EE6F}"/>
              </a:ext>
            </a:extLst>
          </p:cNvPr>
          <p:cNvSpPr/>
          <p:nvPr/>
        </p:nvSpPr>
        <p:spPr>
          <a:xfrm>
            <a:off x="4937760" y="2176272"/>
            <a:ext cx="2697480" cy="484632"/>
          </a:xfrm>
          <a:prstGeom prst="rect">
            <a:avLst/>
          </a:prstGeom>
          <a:solidFill>
            <a:srgbClr val="FFF3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tx1"/>
                </a:solidFill>
              </a:rPr>
              <a:t>通信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1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：差分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C1FD48-6B3D-83F6-8079-49EAF63833C5}"/>
              </a:ext>
            </a:extLst>
          </p:cNvPr>
          <p:cNvSpPr/>
          <p:nvPr/>
        </p:nvSpPr>
        <p:spPr>
          <a:xfrm>
            <a:off x="4937760" y="5721096"/>
            <a:ext cx="2697480" cy="484632"/>
          </a:xfrm>
          <a:prstGeom prst="rect">
            <a:avLst/>
          </a:prstGeom>
          <a:solidFill>
            <a:srgbClr val="FFF3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tx1"/>
                </a:solidFill>
              </a:rPr>
              <a:t>通信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2</a:t>
            </a:r>
            <a:r>
              <a:rPr kumimoji="1" lang="ja-JP" altLang="en-US" sz="2400" b="1" dirty="0">
                <a:solidFill>
                  <a:schemeClr val="tx1"/>
                </a:solidFill>
              </a:rPr>
              <a:t>：</a:t>
            </a:r>
            <a:r>
              <a:rPr lang="ja-JP" altLang="en-US" sz="2400" b="1" dirty="0">
                <a:solidFill>
                  <a:schemeClr val="tx1"/>
                </a:solidFill>
              </a:rPr>
              <a:t>結果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6150B22-9B84-0C89-408F-95CDD0D84822}"/>
              </a:ext>
            </a:extLst>
          </p:cNvPr>
          <p:cNvCxnSpPr>
            <a:cxnSpLocks/>
          </p:cNvCxnSpPr>
          <p:nvPr/>
        </p:nvCxnSpPr>
        <p:spPr>
          <a:xfrm>
            <a:off x="3703320" y="6230112"/>
            <a:ext cx="11064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14B428F-7CD7-A446-C498-15BB04971846}"/>
              </a:ext>
            </a:extLst>
          </p:cNvPr>
          <p:cNvCxnSpPr>
            <a:cxnSpLocks/>
          </p:cNvCxnSpPr>
          <p:nvPr/>
        </p:nvCxnSpPr>
        <p:spPr>
          <a:xfrm flipH="1">
            <a:off x="7888224" y="6199512"/>
            <a:ext cx="14203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28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パワポ用(segoe/notosans)">
      <a:majorFont>
        <a:latin typeface="Segoe UI"/>
        <a:ea typeface="Noto Sans JP"/>
        <a:cs typeface=""/>
      </a:majorFont>
      <a:minorFont>
        <a:latin typeface="Segoe UI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181</Words>
  <Application>Microsoft Office PowerPoint</Application>
  <PresentationFormat>ワイド画面</PresentationFormat>
  <Paragraphs>38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Arial</vt:lpstr>
      <vt:lpstr>Cambria Math</vt:lpstr>
      <vt:lpstr>Office テーマ</vt:lpstr>
      <vt:lpstr>Beaver Triples</vt:lpstr>
      <vt:lpstr>PowerPoint プレゼンテーション</vt:lpstr>
      <vt:lpstr>Beaver Triples</vt:lpstr>
      <vt:lpstr>Beaver Triples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古旗　真太郎</dc:creator>
  <cp:lastModifiedBy>古旗　真太郎</cp:lastModifiedBy>
  <cp:revision>155</cp:revision>
  <dcterms:created xsi:type="dcterms:W3CDTF">2026-02-02T06:02:09Z</dcterms:created>
  <dcterms:modified xsi:type="dcterms:W3CDTF">2026-02-16T05:48:08Z</dcterms:modified>
</cp:coreProperties>
</file>